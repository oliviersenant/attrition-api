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256032"/>
          </a:xfrm>
          <a:prstGeom prst="roundRect">
            <a:avLst>
              <a:gd name="adj" fmla="val 6000"/>
            </a:avLst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ADCFC"/>
                </a:solidFill>
                <a:latin typeface="Calibri"/>
              </a:rPr>
              <a:t>FUTURISYS · MISSION DE DÉPLOIEMENT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mbria"/>
              </a:rPr>
              <a:t>Attrition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CADCFC"/>
                </a:solidFill>
                <a:latin typeface="Cambria"/>
              </a:rPr>
              <a:t>Déployer un modèle de Machine Learning en production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69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AEC2E8"/>
                </a:solidFill>
                <a:latin typeface="Calibri"/>
              </a:rPr>
              <a:t>Du notebook d'analyse à une API testée, tracée et déployée en continu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937760"/>
            <a:ext cx="4206240" cy="18288"/>
          </a:xfrm>
          <a:prstGeom prst="roundRect">
            <a:avLst>
              <a:gd name="adj" fmla="val 6000"/>
            </a:avLst>
          </a:prstGeom>
          <a:solidFill>
            <a:srgbClr val="24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CADCFC"/>
                </a:solidFill>
                <a:latin typeface="Calibri"/>
              </a:rPr>
              <a:t>Olivier Senant  ·  Parcours AI/ML Engineer  ·  Soutenance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6A33"/>
                </a:solidFill>
                <a:latin typeface="Calibri"/>
              </a:rPr>
              <a:t>attrition-api.onrender.com/docs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66928"/>
            <a:ext cx="566928" cy="5669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5029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A"/>
                </a:solidFill>
                <a:latin typeface="Cambria"/>
              </a:rPr>
              <a:t>Contexte : rendre un modèle opérationnel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C2433"/>
                </a:solidFill>
                <a:latin typeface="Calibri"/>
              </a:rPr>
              <a:t>Futurisys veut exploiter en production le modèle de prédiction d'attrition issu de la mission d'analyse (TechNova). On ne refait pas de data science : on transforme un modèle de notebook en service fiable et maintenable.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578608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514600"/>
            <a:ext cx="6291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2433"/>
                </a:solidFill>
                <a:latin typeface="Calibri"/>
              </a:rPr>
              <a:t>Un dépôt Git structuré, versionné, collaboratif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" y="2807208"/>
            <a:ext cx="6291072" cy="297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branches, tags, PR, README, conventions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260470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196463"/>
            <a:ext cx="6291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2433"/>
                </a:solidFill>
                <a:latin typeface="Calibri"/>
              </a:rPr>
              <a:t>Une API performante exposant le modèle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1288" y="3489070"/>
            <a:ext cx="6291072" cy="297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FastAPI + Pydantic, documentée (Swagger)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942334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3878325"/>
            <a:ext cx="6291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2433"/>
                </a:solidFill>
                <a:latin typeface="Calibri"/>
              </a:rPr>
              <a:t>Fiabilité garantie par les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1288" y="4170934"/>
            <a:ext cx="6291072" cy="297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Pytest + rapport de couverture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624197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61288" y="4560188"/>
            <a:ext cx="6291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2433"/>
                </a:solidFill>
                <a:latin typeface="Calibri"/>
              </a:rPr>
              <a:t>Traçabilité de tous les échanges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1288" y="4852797"/>
            <a:ext cx="6291072" cy="297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base PostgreSQL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5306059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5242051"/>
            <a:ext cx="6291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2433"/>
                </a:solidFill>
                <a:latin typeface="Calibri"/>
              </a:rPr>
              <a:t>Livraison automatisée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" y="5534659"/>
            <a:ext cx="6291072" cy="297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pipeline CI/CD, gestion des secrets et environnements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55279" y="2468880"/>
            <a:ext cx="3474720" cy="310896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269748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E86A33"/>
                </a:solidFill>
                <a:latin typeface="Calibri"/>
              </a:rPr>
              <a:t>LE DÉFI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310896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Un modèle qui ne vit que dans un notebook n'a aucune valeur opérationnelle.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160520"/>
            <a:ext cx="2926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ADCFC"/>
                </a:solidFill>
                <a:latin typeface="Calibri"/>
              </a:rPr>
              <a:t>Objectif : le rendre interrogeable par n'importe quel système, 24/7, avec les garanties d'un logiciel de production.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mbria"/>
              </a:rPr>
              <a:t>Architecture de bout en bout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ADCFC"/>
                </a:solidFill>
                <a:latin typeface="Calibri"/>
              </a:rPr>
              <a:t>Chaîne CI/CD complète : du push au service en ligne, sans intervention manuelle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243A63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2487168"/>
            <a:ext cx="1746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mbria"/>
              </a:rPr>
              <a:t>Développeur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063240"/>
            <a:ext cx="17465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ADCFC"/>
                </a:solidFill>
                <a:latin typeface="Calibri"/>
              </a:rPr>
              <a:t>branche → PR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9192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E86A33"/>
                </a:solidFill>
                <a:latin typeface="Calibri"/>
              </a:rPr>
              <a:t>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53511" y="228600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243A63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39" y="2487168"/>
            <a:ext cx="1746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mbria"/>
              </a:rPr>
              <a:t>GitHub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39" y="3063240"/>
            <a:ext cx="17465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ADCFC"/>
                </a:solidFill>
                <a:latin typeface="Calibri"/>
              </a:rPr>
              <a:t>lint · 54 tests · couverture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01183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E86A33"/>
                </a:solidFill>
                <a:latin typeface="Calibri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75503" y="228600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243A63"/>
          </a:solidFill>
          <a:ln w="12700">
            <a:solidFill>
              <a:srgbClr val="E86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85231" y="2487168"/>
            <a:ext cx="1746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mbria"/>
              </a:rPr>
              <a:t>Tag de 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85231" y="3063240"/>
            <a:ext cx="17465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86A33"/>
                </a:solidFill>
                <a:latin typeface="Calibri"/>
              </a:rPr>
              <a:t>déclenche le déploiement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23175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E86A33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97496" y="228600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243A63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07223" y="2487168"/>
            <a:ext cx="1746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mbria"/>
              </a:rPr>
              <a:t>Render (Docker)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07223" y="3063240"/>
            <a:ext cx="17465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E8B57"/>
                </a:solidFill>
                <a:latin typeface="Calibri"/>
              </a:rPr>
              <a:t>build → ré-entraîne → sert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45168" y="2743200"/>
            <a:ext cx="457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>
                <a:solidFill>
                  <a:srgbClr val="E86A33"/>
                </a:solidFill>
                <a:latin typeface="Calibri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19488" y="2286000"/>
            <a:ext cx="1965960" cy="1371600"/>
          </a:xfrm>
          <a:prstGeom prst="roundRect">
            <a:avLst>
              <a:gd name="adj" fmla="val 6000"/>
            </a:avLst>
          </a:prstGeom>
          <a:solidFill>
            <a:srgbClr val="243A63"/>
          </a:solidFill>
          <a:ln w="12700">
            <a:solidFill>
              <a:srgbClr val="CADCF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29215" y="2487168"/>
            <a:ext cx="174650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mbria"/>
              </a:rPr>
              <a:t>API 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29215" y="3063240"/>
            <a:ext cx="174650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ADCFC"/>
                </a:solidFill>
                <a:latin typeface="Calibri"/>
              </a:rPr>
              <a:t>FastAPI + Swagger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40480" y="4480560"/>
            <a:ext cx="4480560" cy="1051560"/>
          </a:xfrm>
          <a:prstGeom prst="roundRect">
            <a:avLst>
              <a:gd name="adj" fmla="val 6000"/>
            </a:avLst>
          </a:prstGeom>
          <a:solidFill>
            <a:srgbClr val="243A63"/>
          </a:solidFill>
          <a:ln w="12700">
            <a:solidFill>
              <a:srgbClr val="E86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4645152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ambria"/>
              </a:rPr>
              <a:t>PostgreSQL managé (Neon)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23360" y="5029200"/>
            <a:ext cx="4114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CADCFC"/>
                </a:solidFill>
                <a:latin typeface="Calibri"/>
              </a:rPr>
              <a:t>chaque prédiction est tracée : input · output · seuil · version · horodatage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1605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E86A33"/>
                </a:solidFill>
                <a:latin typeface="Calibri"/>
              </a:rPr>
              <a:t>▲  DATABASE_URL (secret)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CADCFC"/>
                </a:solidFill>
                <a:latin typeface="Calibri"/>
              </a:rPr>
              <a:t>Secrets injectés par l'hébergeur — jamais dans le dépôt.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66928"/>
            <a:ext cx="566928" cy="5669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5029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A"/>
                </a:solidFill>
                <a:latin typeface="Cambria"/>
              </a:rPr>
              <a:t>Dépôt Git : un historique qui raconte la mission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755648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1691640"/>
            <a:ext cx="6108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2433"/>
                </a:solidFill>
                <a:latin typeface="Calibri"/>
              </a:rPr>
              <a:t>main ne porte que du code déployable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984248"/>
            <a:ext cx="6108192" cy="297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une fonctionnalité = une branche, fusionnée par Pull Request après tests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474087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410079"/>
            <a:ext cx="6108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2433"/>
                </a:solidFill>
                <a:latin typeface="Calibri"/>
              </a:rPr>
              <a:t>Conventions explicites (CONTRIBUTING.md)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702687"/>
            <a:ext cx="6108192" cy="297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préfixes feat/ fix/ ci/ docs/ test/ ; commits descriptifs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192526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128518"/>
            <a:ext cx="6108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2433"/>
                </a:solidFill>
                <a:latin typeface="Calibri"/>
              </a:rPr>
              <a:t>Versionnage sémantique par tags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3421126"/>
            <a:ext cx="6108192" cy="297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v0.1.0 → v1.0.0 ; un tag = une version livrable = un déploiement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910965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3846957"/>
            <a:ext cx="61081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2433"/>
                </a:solidFill>
                <a:latin typeface="Calibri"/>
              </a:rPr>
              <a:t>Structure claire, rien à la racine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4139565"/>
            <a:ext cx="6108192" cy="297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app/ · ml/ · scripts/ · tests/ · docs/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737360"/>
            <a:ext cx="36576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0" y="1737360"/>
            <a:ext cx="82296" cy="128016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1" y="1883664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A"/>
                </a:solidFill>
                <a:latin typeface="Cambria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2450591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C2433"/>
                </a:solidFill>
                <a:latin typeface="Calibri"/>
              </a:rPr>
              <a:t>tags de version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28431" y="2761488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675"/>
                </a:solidFill>
                <a:latin typeface="Calibr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3154680"/>
            <a:ext cx="36576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772400" y="3154680"/>
            <a:ext cx="82296" cy="128016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28431" y="3300984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A"/>
                </a:solidFill>
                <a:latin typeface="Cambria"/>
              </a:rPr>
              <a:t>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28431" y="386791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C2433"/>
                </a:solidFill>
                <a:latin typeface="Calibri"/>
              </a:rPr>
              <a:t>Pull Requests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4178808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675"/>
                </a:solidFill>
                <a:latin typeface="Calibri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4572000"/>
            <a:ext cx="3657600" cy="1280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72400" y="4572000"/>
            <a:ext cx="82296" cy="128016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1" y="4718304"/>
            <a:ext cx="3291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A"/>
                </a:solidFill>
                <a:latin typeface="Cambria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1" y="5285232"/>
            <a:ext cx="3291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C2433"/>
                </a:solidFill>
                <a:latin typeface="Calibri"/>
              </a:rPr>
              <a:t>étapes livrées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431" y="5596128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675"/>
                </a:solidFill>
                <a:latin typeface="Calibri"/>
              </a:rPr>
              <a:t/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66928"/>
            <a:ext cx="566928" cy="5669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5029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A"/>
                </a:solidFill>
                <a:latin typeface="Cambria"/>
              </a:rPr>
              <a:t>CI/CD : la qualité devient une loi, pas une intention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755648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1691640"/>
            <a:ext cx="61996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2433"/>
                </a:solidFill>
                <a:latin typeface="Calibri"/>
              </a:rPr>
              <a:t>Intégration continue (GitHub Actions)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984248"/>
            <a:ext cx="6199631" cy="297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à chaque push : ruff + 54 tests + couverture, en &lt; 10 min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492375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428367"/>
            <a:ext cx="61996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2433"/>
                </a:solidFill>
                <a:latin typeface="Calibri"/>
              </a:rPr>
              <a:t>Protection de branche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720975"/>
            <a:ext cx="6199631" cy="297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merge dans main impossible tant que le check n'est pas vert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229102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165094"/>
            <a:ext cx="61996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2433"/>
                </a:solidFill>
                <a:latin typeface="Calibri"/>
              </a:rPr>
              <a:t>Déploiement continu par tag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3457702"/>
            <a:ext cx="6199631" cy="297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git push v1.0.0 → tests → deploy hook Render (moindre privilège)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965829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3901821"/>
            <a:ext cx="61996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2433"/>
                </a:solidFill>
                <a:latin typeface="Calibri"/>
              </a:rPr>
              <a:t>Environnements &amp; secrets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4194429"/>
            <a:ext cx="6199631" cy="297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environnement production GitHub ; secrets jamais versionnés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783080"/>
            <a:ext cx="3657600" cy="393192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201168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86A33"/>
                </a:solidFill>
                <a:latin typeface="Cambria"/>
              </a:rPr>
              <a:t>2 fichiers YAML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51460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ourier New"/>
              </a:rPr>
              <a:t>ci.yml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83464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ADCFC"/>
                </a:solidFill>
                <a:latin typeface="Calibri"/>
              </a:rPr>
              <a:t>tests, couverture, déclenchement du déploiement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520440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Courier New"/>
              </a:rPr>
              <a:t>render.yaml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840480"/>
            <a:ext cx="3200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CADCFC"/>
                </a:solidFill>
                <a:latin typeface="Calibri"/>
              </a:rPr>
              <a:t>Infrastructure-as-Code : le service décrit en versionné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4617720"/>
            <a:ext cx="3108960" cy="18288"/>
          </a:xfrm>
          <a:prstGeom prst="roundRect">
            <a:avLst>
              <a:gd name="adj" fmla="val 6000"/>
            </a:avLst>
          </a:prstGeom>
          <a:solidFill>
            <a:srgbClr val="24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4754880"/>
            <a:ext cx="3200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Split standard :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GitHub = qualité · Render = livraison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66928"/>
            <a:ext cx="566928" cy="5669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5029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A"/>
                </a:solidFill>
                <a:latin typeface="Cambria"/>
              </a:rPr>
              <a:t>Empaqueter le modèle : un seul objet servable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C2433"/>
                </a:solidFill>
                <a:latin typeface="Calibri"/>
              </a:rPr>
              <a:t>Le bug n°1 en production, c'est un préprocessing qui diverge entre l'entraînement et l'inférence (silencieux : pas d'erreur, juste des prédictions fausses).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51460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CAD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187451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B2A4A"/>
                </a:solidFill>
                <a:latin typeface="Calibri"/>
              </a:rPr>
              <a:t>Données brutes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269748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86A33"/>
                </a:solidFill>
                <a:latin typeface="Calibri"/>
              </a:rPr>
              <a:t>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39" y="251460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4679" y="2606040"/>
            <a:ext cx="187451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B2A4A"/>
                </a:solidFill>
                <a:latin typeface="Calibri"/>
              </a:rPr>
              <a:t>Feature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B2A4A"/>
                </a:solidFill>
                <a:latin typeface="Calibri"/>
              </a:rPr>
              <a:t>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3207" y="269748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86A33"/>
                </a:solidFill>
                <a:latin typeface="Calibri"/>
              </a:rPr>
              <a:t>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57800" y="251460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2606040"/>
            <a:ext cx="187451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B2A4A"/>
                </a:solidFill>
                <a:latin typeface="Calibri"/>
              </a:rPr>
              <a:t>OneHotEncoder</a:t>
            </a:r>
          </a:p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B2A4A"/>
                </a:solidFill>
                <a:latin typeface="Calibri"/>
              </a:rPr>
              <a:t>(mémorisé)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7768" y="269748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86A33"/>
                </a:solidFill>
                <a:latin typeface="Calibri"/>
              </a:rPr>
              <a:t>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2514600"/>
            <a:ext cx="2057400" cy="868680"/>
          </a:xfrm>
          <a:prstGeom prst="roundRect">
            <a:avLst>
              <a:gd name="adj" fmla="val 6000"/>
            </a:avLst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2606040"/>
            <a:ext cx="1874519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RandomForest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82328" y="2697480"/>
            <a:ext cx="320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86A33"/>
                </a:solidFill>
                <a:latin typeface="Calibri"/>
              </a:rPr>
              <a:t>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46920" y="2514600"/>
            <a:ext cx="1737360" cy="868680"/>
          </a:xfrm>
          <a:prstGeom prst="roundRect">
            <a:avLst>
              <a:gd name="adj" fmla="val 6000"/>
            </a:avLst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8360" y="2606040"/>
            <a:ext cx="15544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Calibri"/>
              </a:rPr>
              <a:t>Probabilité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520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C6675"/>
                </a:solidFill>
                <a:latin typeface="Calibri"/>
              </a:rPr>
              <a:t>= un seul artefact  model.joblib  (Pipeline sklearn sérialisé)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4178808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61288" y="4114800"/>
            <a:ext cx="10131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C2433"/>
                </a:solidFill>
                <a:latin typeface="Calibri"/>
              </a:rPr>
              <a:t>OneHotEncoder plutôt que get_dummies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61288" y="4407408"/>
            <a:ext cx="10131552" cy="289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C6675"/>
                </a:solidFill>
                <a:latin typeface="Calibri"/>
              </a:rPr>
              <a:t>il mémorise les modalités au fit → prédiction fiable même pour UN employé, ou une catégorie inconnue</a:t>
            </a:r>
          </a:p>
        </p:txBody>
      </p:sp>
      <p:sp>
        <p:nvSpPr>
          <p:cNvPr id="24" name="Oval 23"/>
          <p:cNvSpPr/>
          <p:nvPr/>
        </p:nvSpPr>
        <p:spPr>
          <a:xfrm>
            <a:off x="868680" y="4852416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1288" y="4788408"/>
            <a:ext cx="10131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C2433"/>
                </a:solidFill>
                <a:latin typeface="Calibri"/>
              </a:rPr>
              <a:t>Décision au seuil 0.415 (F-beta β=2), pas 0.5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61288" y="5081016"/>
            <a:ext cx="10131552" cy="289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C6675"/>
                </a:solidFill>
                <a:latin typeface="Calibri"/>
              </a:rPr>
              <a:t>politique métier réglable sans réentraîner — priorité au rappel</a:t>
            </a:r>
          </a:p>
        </p:txBody>
      </p:sp>
      <p:sp>
        <p:nvSpPr>
          <p:cNvPr id="27" name="Oval 26"/>
          <p:cNvSpPr/>
          <p:nvPr/>
        </p:nvSpPr>
        <p:spPr>
          <a:xfrm>
            <a:off x="868680" y="5526024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61288" y="5462015"/>
            <a:ext cx="101315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C2433"/>
                </a:solidFill>
                <a:latin typeface="Calibri"/>
              </a:rPr>
              <a:t>Régénéré, jamais versionné en binaire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61288" y="5754624"/>
            <a:ext cx="10131552" cy="289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5C6675"/>
                </a:solidFill>
                <a:latin typeface="Calibri"/>
              </a:rPr>
              <a:t>train.py + données + graine fixe = même modèle (reproductible)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66928"/>
            <a:ext cx="566928" cy="5669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5029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A"/>
                </a:solidFill>
                <a:latin typeface="Cambria"/>
              </a:rPr>
              <a:t>API FastAPI : un contrat typé à la frontière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755648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1691640"/>
            <a:ext cx="61996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2433"/>
                </a:solidFill>
                <a:latin typeface="Calibri"/>
              </a:rPr>
              <a:t>Validation Pydantic à l'entrée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984248"/>
            <a:ext cx="6199631" cy="297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25 champs typés/bornés/énumérés → réponse 422 explicite AVANT le modèle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474087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410079"/>
            <a:ext cx="61996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2433"/>
                </a:solidFill>
                <a:latin typeface="Calibri"/>
              </a:rPr>
              <a:t>Documentation qui ne peut pas mentir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702687"/>
            <a:ext cx="6199631" cy="297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Swagger généré depuis le même contrat que la validation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192526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128518"/>
            <a:ext cx="61996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2433"/>
                </a:solidFill>
                <a:latin typeface="Calibri"/>
              </a:rPr>
              <a:t>Endpoints clairs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3421126"/>
            <a:ext cx="6199631" cy="297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/health · POST /predict · POST /predict/batch · GET /predictions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910965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3846957"/>
            <a:ext cx="61996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2433"/>
                </a:solidFill>
                <a:latin typeface="Calibri"/>
              </a:rPr>
              <a:t>Chargement du modèle au démarrage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4139565"/>
            <a:ext cx="6199631" cy="297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l'artefact est désérialisé une fois (lifespan), pas à chaque appel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783080"/>
            <a:ext cx="3657600" cy="3977639"/>
          </a:xfrm>
          <a:prstGeom prst="roundRect">
            <a:avLst>
              <a:gd name="adj" fmla="val 6000"/>
            </a:avLst>
          </a:prstGeom>
          <a:solidFill>
            <a:srgbClr val="1C2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19659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86A33"/>
                </a:solidFill>
                <a:latin typeface="Courier New"/>
              </a:rPr>
              <a:t>POST /predict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39572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ADCFC"/>
                </a:solidFill>
                <a:latin typeface="Courier New"/>
              </a:rPr>
              <a:t>X-API-Key: •••••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724912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Courier New"/>
              </a:rPr>
              <a:t>{ "age": 41, "heure_supp":</a:t>
            </a:r>
          </a:p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Courier New"/>
              </a:rPr>
              <a:t>  "Oui", ... 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42900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E86A33"/>
                </a:solidFill>
                <a:latin typeface="Calibri"/>
              </a:rPr>
              <a:t>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3840480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E8B57"/>
                </a:solidFill>
                <a:latin typeface="Courier New"/>
              </a:rPr>
              <a:t>{ "probabilite_depart":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2E8B57"/>
                </a:solidFill>
                <a:latin typeface="Courier New"/>
              </a:rPr>
              <a:t>  0.70,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2E8B57"/>
                </a:solidFill>
                <a:latin typeface="Courier New"/>
              </a:rPr>
              <a:t>  "prediction": 1,</a:t>
            </a:r>
          </a:p>
          <a:p>
            <a:pPr algn="l">
              <a:lnSpc>
                <a:spcPct val="115000"/>
              </a:lnSpc>
            </a:pPr>
            <a:r>
              <a:rPr sz="1300" b="0">
                <a:solidFill>
                  <a:srgbClr val="2E8B57"/>
                </a:solidFill>
                <a:latin typeface="Courier New"/>
              </a:rPr>
              <a:t>  "seuil": 0.415 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52578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ADCFC"/>
                </a:solidFill>
                <a:latin typeface="Calibri"/>
              </a:rPr>
              <a:t>Réponse tracée en base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66928"/>
            <a:ext cx="566928" cy="5669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5029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A"/>
                </a:solidFill>
                <a:latin typeface="Cambria"/>
              </a:rPr>
              <a:t>PostgreSQL : la mémoire de l'activité du modèle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0">
                <a:solidFill>
                  <a:srgbClr val="1C2433"/>
                </a:solidFill>
                <a:latin typeface="Calibri"/>
              </a:rPr>
              <a:t>Toute interaction passe par la base — c'est ce qui rend le modèle auditable et supervisable.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286000"/>
            <a:ext cx="338328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68680" y="2286000"/>
            <a:ext cx="3383280" cy="50292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ourier New"/>
              </a:rPr>
              <a:t>employes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71800"/>
            <a:ext cx="30175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C2433"/>
                </a:solidFill>
                <a:latin typeface="Courier New"/>
              </a:rPr>
              <a:t>id_employee (PK)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C2433"/>
                </a:solidFill>
                <a:latin typeface="Courier New"/>
              </a:rPr>
              <a:t>25 champs métier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C2433"/>
                </a:solidFill>
                <a:latin typeface="Courier New"/>
              </a:rPr>
              <a:t>a_quitte_l_entreprise (label)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709160"/>
            <a:ext cx="3017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675"/>
                </a:solidFill>
                <a:latin typeface="Calibri"/>
              </a:rPr>
              <a:t>le dataset de référence</a:t>
            </a:r>
          </a:p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675"/>
                </a:solidFill>
                <a:latin typeface="Calibri"/>
              </a:rPr>
              <a:t>(1470 employés)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286000"/>
            <a:ext cx="356616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26280" y="2286000"/>
            <a:ext cx="3566160" cy="502920"/>
          </a:xfrm>
          <a:prstGeom prst="roundRect">
            <a:avLst>
              <a:gd name="adj" fmla="val 6000"/>
            </a:avLst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23774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Courier New"/>
              </a:rPr>
              <a:t>predictions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97180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1C2433"/>
                </a:solidFill>
                <a:latin typeface="Courier New"/>
              </a:rPr>
              <a:t>id (PK)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C2433"/>
                </a:solidFill>
                <a:latin typeface="Courier New"/>
              </a:rPr>
              <a:t>25 champs (snapshot input)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C2433"/>
                </a:solidFill>
                <a:latin typeface="Courier New"/>
              </a:rPr>
              <a:t>probabilite · prediction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C2433"/>
                </a:solidFill>
                <a:latin typeface="Courier New"/>
              </a:rPr>
              <a:t>seuil · version · created_at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49377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675"/>
                </a:solidFill>
                <a:latin typeface="Calibri"/>
              </a:rPr>
              <a:t>la trace de chaque appel</a:t>
            </a:r>
          </a:p>
        </p:txBody>
      </p:sp>
      <p:sp>
        <p:nvSpPr>
          <p:cNvPr id="16" name="Oval 15"/>
          <p:cNvSpPr/>
          <p:nvPr/>
        </p:nvSpPr>
        <p:spPr>
          <a:xfrm>
            <a:off x="8366760" y="2441448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59368" y="2377440"/>
            <a:ext cx="2907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C2433"/>
                </a:solidFill>
                <a:latin typeface="Calibri"/>
              </a:rPr>
              <a:t>Mixin : 25 champs déclarés une fois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59368" y="2670048"/>
            <a:ext cx="2907792" cy="4381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C6675"/>
                </a:solidFill>
                <a:latin typeface="Calibri"/>
              </a:rPr>
              <a:t>alignement des tables garanti par construction</a:t>
            </a:r>
          </a:p>
        </p:txBody>
      </p:sp>
      <p:sp>
        <p:nvSpPr>
          <p:cNvPr id="19" name="Oval 18"/>
          <p:cNvSpPr/>
          <p:nvPr/>
        </p:nvSpPr>
        <p:spPr>
          <a:xfrm>
            <a:off x="8366760" y="3336798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3272790"/>
            <a:ext cx="2907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C2433"/>
                </a:solidFill>
                <a:latin typeface="Calibri"/>
              </a:rPr>
              <a:t>Snapshot, pas de clé étrangère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565398"/>
            <a:ext cx="2907792" cy="4381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C6675"/>
                </a:solidFill>
                <a:latin typeface="Calibri"/>
              </a:rPr>
              <a:t>on peut scorer un employé absent du dataset</a:t>
            </a:r>
          </a:p>
        </p:txBody>
      </p:sp>
      <p:sp>
        <p:nvSpPr>
          <p:cNvPr id="22" name="Oval 21"/>
          <p:cNvSpPr/>
          <p:nvPr/>
        </p:nvSpPr>
        <p:spPr>
          <a:xfrm>
            <a:off x="8366760" y="4232148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59368" y="4168140"/>
            <a:ext cx="290779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C2433"/>
                </a:solidFill>
                <a:latin typeface="Calibri"/>
              </a:rPr>
              <a:t>À quoi ça sert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59368" y="4460748"/>
            <a:ext cx="2907792" cy="43814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>
                <a:solidFill>
                  <a:srgbClr val="5C6675"/>
                </a:solidFill>
                <a:latin typeface="Calibri"/>
              </a:rPr>
              <a:t>audit d'une alerte · détection de dérive · réentraînement futur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66928"/>
            <a:ext cx="566928" cy="5669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5029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A"/>
                </a:solidFill>
                <a:latin typeface="Cambria"/>
              </a:rPr>
              <a:t>Tests &amp; couverture : la fiabilité est mesurée</a:t>
            </a:r>
          </a:p>
        </p:txBody>
      </p:sp>
      <p:pic>
        <p:nvPicPr>
          <p:cNvPr id="5" name="Picture 4" descr="_co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5760720" cy="348782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949440" y="1847088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42048" y="1783080"/>
            <a:ext cx="43708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C2433"/>
                </a:solidFill>
                <a:latin typeface="Calibri"/>
              </a:rPr>
              <a:t>54 tests unitaires ET fonctionnels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2048" y="2075688"/>
            <a:ext cx="4370831" cy="273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675"/>
                </a:solidFill>
                <a:latin typeface="Calibri"/>
              </a:rPr>
              <a:t>preprocessing · modèle · API · base · entraînement</a:t>
            </a:r>
          </a:p>
        </p:txBody>
      </p:sp>
      <p:sp>
        <p:nvSpPr>
          <p:cNvPr id="9" name="Oval 8"/>
          <p:cNvSpPr/>
          <p:nvPr/>
        </p:nvSpPr>
        <p:spPr>
          <a:xfrm>
            <a:off x="6949440" y="2522474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42048" y="2458466"/>
            <a:ext cx="43708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C2433"/>
                </a:solidFill>
                <a:latin typeface="Calibri"/>
              </a:rPr>
              <a:t>Couverture 94,7 %, plancher 90 % en 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2751074"/>
            <a:ext cx="4370831" cy="273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675"/>
                </a:solidFill>
                <a:latin typeface="Calibri"/>
              </a:rPr>
              <a:t>la couverture ne peut pas régresser silencieusement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0" y="3197860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42048" y="3133852"/>
            <a:ext cx="43708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C2433"/>
                </a:solidFill>
                <a:latin typeface="Calibri"/>
              </a:rPr>
              <a:t>On teste surtout ce qui doit échouer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3426460"/>
            <a:ext cx="4370831" cy="273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675"/>
                </a:solidFill>
                <a:latin typeface="Calibri"/>
              </a:rPr>
              <a:t>8 rejets 422 · base indisponible · artefact manquant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0" y="3873246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42048" y="3809238"/>
            <a:ext cx="43708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C2433"/>
                </a:solidFill>
                <a:latin typeface="Calibri"/>
              </a:rPr>
              <a:t>Un bug rencontré = un test écrit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4101846"/>
            <a:ext cx="4370831" cy="273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675"/>
                </a:solidFill>
                <a:latin typeface="Calibri"/>
              </a:rPr>
              <a:t>la fragilité pandas 3 est devenue un test permanent</a:t>
            </a:r>
          </a:p>
        </p:txBody>
      </p:sp>
      <p:sp>
        <p:nvSpPr>
          <p:cNvPr id="18" name="Oval 17"/>
          <p:cNvSpPr/>
          <p:nvPr/>
        </p:nvSpPr>
        <p:spPr>
          <a:xfrm>
            <a:off x="6949440" y="4548632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42048" y="4484624"/>
            <a:ext cx="43708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C2433"/>
                </a:solidFill>
                <a:latin typeface="Calibri"/>
              </a:rPr>
              <a:t>Reproductibilité testée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4777232"/>
            <a:ext cx="4370831" cy="273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675"/>
                </a:solidFill>
                <a:latin typeface="Calibri"/>
              </a:rPr>
              <a:t>réentraîner redonne le même seuil (0.415)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66928"/>
            <a:ext cx="566928" cy="5669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5029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A"/>
                </a:solidFill>
                <a:latin typeface="Cambria"/>
              </a:rPr>
              <a:t>Sécurité &amp; secrets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801368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1737360"/>
            <a:ext cx="6291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2433"/>
                </a:solidFill>
                <a:latin typeface="Calibri"/>
              </a:rPr>
              <a:t>Authentification par clé d'API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2029967"/>
            <a:ext cx="6291072" cy="297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en-tête X-API-Key exigé sur les endpoints de prédiction ; /health public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519807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455799"/>
            <a:ext cx="6291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2433"/>
                </a:solidFill>
                <a:latin typeface="Calibri"/>
              </a:rPr>
              <a:t>Comparaison en temps constant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" y="2748407"/>
            <a:ext cx="6291072" cy="297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secrets.compare_digest — pas de fuite par timing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238246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61288" y="3174238"/>
            <a:ext cx="6291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2433"/>
                </a:solidFill>
                <a:latin typeface="Calibri"/>
              </a:rPr>
              <a:t>Aucun secret dans le dépôt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1288" y="3466846"/>
            <a:ext cx="6291072" cy="297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.env.example ne contient que des placeholders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956685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61288" y="3892677"/>
            <a:ext cx="6291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2433"/>
                </a:solidFill>
                <a:latin typeface="Calibri"/>
              </a:rPr>
              <a:t>Secrets externalisés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4185285"/>
            <a:ext cx="6291072" cy="297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DATABASE_URL &amp; API_KEY dans Render ; RENDER_DEPLOY_HOOK côté GitHub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" y="4675124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61288" y="4611116"/>
            <a:ext cx="629107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C2433"/>
                </a:solidFill>
                <a:latin typeface="Calibri"/>
              </a:rPr>
              <a:t>Moindre privilège pour le déploiement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4903724"/>
            <a:ext cx="6291072" cy="29781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5C6675"/>
                </a:solidFill>
                <a:latin typeface="Calibri"/>
              </a:rPr>
              <a:t>GitHub ne reçoit qu'un « bouton » à presser, pas les accès Render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0" y="1783080"/>
            <a:ext cx="3657600" cy="393192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01000" y="205740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6A33"/>
                </a:solidFill>
                <a:latin typeface="Cambria"/>
              </a:rPr>
              <a:t>API_KEY  ≠  X-API-Key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265176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Côté serveur : la clé attendue (Render).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24612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Côté client : la clé présentée à chaque appel.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3977639"/>
            <a:ext cx="3108960" cy="18288"/>
          </a:xfrm>
          <a:prstGeom prst="roundRect">
            <a:avLst>
              <a:gd name="adj" fmla="val 6000"/>
            </a:avLst>
          </a:prstGeom>
          <a:solidFill>
            <a:srgbClr val="24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4114800"/>
            <a:ext cx="3291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CADCFC"/>
                </a:solidFill>
                <a:latin typeface="Calibri"/>
              </a:rPr>
              <a:t>« La combinaison enregistrée dans le coffre vs celle qu'on tape au clavier. »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66928"/>
            <a:ext cx="566928" cy="5669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08760" y="502920"/>
            <a:ext cx="100584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B2A4A"/>
                </a:solidFill>
                <a:latin typeface="Cambria"/>
              </a:rPr>
              <a:t>Le modèle en action : un outil d'alerte</a:t>
            </a:r>
          </a:p>
        </p:txBody>
      </p:sp>
      <p:pic>
        <p:nvPicPr>
          <p:cNvPr id="5" name="Picture 4" descr="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5760720" cy="3526971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6949440" y="1938527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42048" y="1874519"/>
            <a:ext cx="43708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C2433"/>
                </a:solidFill>
                <a:latin typeface="Calibri"/>
              </a:rPr>
              <a:t>Détecte ~7 partants sur 10 (rappel 0,71)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42048" y="2167127"/>
            <a:ext cx="4370831" cy="454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675"/>
                </a:solidFill>
                <a:latin typeface="Calibri"/>
              </a:rPr>
              <a:t>priorité métier : mieux vaut une fausse alerte qu'un départ raté</a:t>
            </a:r>
          </a:p>
        </p:txBody>
      </p:sp>
      <p:sp>
        <p:nvSpPr>
          <p:cNvPr id="9" name="Oval 8"/>
          <p:cNvSpPr/>
          <p:nvPr/>
        </p:nvSpPr>
        <p:spPr>
          <a:xfrm>
            <a:off x="6949440" y="2832099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42048" y="2768092"/>
            <a:ext cx="43708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C2433"/>
                </a:solidFill>
                <a:latin typeface="Calibri"/>
              </a:rPr>
              <a:t>Le seuil trie les profils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2048" y="3060699"/>
            <a:ext cx="4370831" cy="273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675"/>
                </a:solidFill>
                <a:latin typeface="Calibri"/>
              </a:rPr>
              <a:t>au-dessus de 0.415 → alerte RH ; le curseur est réglable</a:t>
            </a:r>
          </a:p>
        </p:txBody>
      </p:sp>
      <p:sp>
        <p:nvSpPr>
          <p:cNvPr id="12" name="Oval 11"/>
          <p:cNvSpPr/>
          <p:nvPr/>
        </p:nvSpPr>
        <p:spPr>
          <a:xfrm>
            <a:off x="6949440" y="3544061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42048" y="3480054"/>
            <a:ext cx="43708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C2433"/>
                </a:solidFill>
                <a:latin typeface="Calibri"/>
              </a:rPr>
              <a:t>Cause n°1 d'attrition : les heures sup.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2048" y="3772662"/>
            <a:ext cx="4370831" cy="273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675"/>
                </a:solidFill>
                <a:latin typeface="Calibri"/>
              </a:rPr>
              <a:t>confirmée en amont par 3 méthodes d'importance</a:t>
            </a:r>
          </a:p>
        </p:txBody>
      </p:sp>
      <p:sp>
        <p:nvSpPr>
          <p:cNvPr id="15" name="Oval 14"/>
          <p:cNvSpPr/>
          <p:nvPr/>
        </p:nvSpPr>
        <p:spPr>
          <a:xfrm>
            <a:off x="6949440" y="4256024"/>
            <a:ext cx="109728" cy="109728"/>
          </a:xfrm>
          <a:prstGeom prst="ellipse">
            <a:avLst/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42048" y="4192016"/>
            <a:ext cx="43708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1C2433"/>
                </a:solidFill>
                <a:latin typeface="Calibri"/>
              </a:rPr>
              <a:t>Ce n'est pas un oracle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4484624"/>
            <a:ext cx="4370831" cy="273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5C6675"/>
                </a:solidFill>
                <a:latin typeface="Calibri"/>
              </a:rPr>
              <a:t>outil d'aide ; l'humain reste dans la boucle (model card)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66928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FFFFFF"/>
                </a:solidFill>
                <a:latin typeface="Cambria"/>
              </a:rPr>
              <a:t>Un incident en production, résolu en méthode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E86A33"/>
                </a:solidFill>
                <a:latin typeface="Calibri"/>
              </a:rPr>
              <a:t>Tous les tests verts, /health OK… mais /predict renvoyait 500 en prod.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10698480" cy="932688"/>
          </a:xfrm>
          <a:prstGeom prst="roundRect">
            <a:avLst>
              <a:gd name="adj" fmla="val 6000"/>
            </a:avLst>
          </a:prstGeom>
          <a:solidFill>
            <a:srgbClr val="24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75688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6A33"/>
                </a:solidFill>
                <a:latin typeface="Cambria"/>
              </a:rPr>
              <a:t>1 · Reproduire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057400"/>
            <a:ext cx="74980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Rejouer la logique en local contre la vraie base Neon → ça marche.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→ le code, le modèle et la base sont hors de cause.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08376"/>
            <a:ext cx="10698480" cy="932688"/>
          </a:xfrm>
          <a:prstGeom prst="roundRect">
            <a:avLst>
              <a:gd name="adj" fmla="val 6000"/>
            </a:avLst>
          </a:prstGeom>
          <a:solidFill>
            <a:srgbClr val="24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18104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6A33"/>
                </a:solidFill>
                <a:latin typeface="Cambria"/>
              </a:rPr>
              <a:t>2 · Lire la traceback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3099816"/>
            <a:ext cx="74980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Logs Render : ModuleNotFoundError: psycopg2.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SQLAlchemy chargeait le mauvais driver.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50791"/>
            <a:ext cx="10698480" cy="932688"/>
          </a:xfrm>
          <a:prstGeom prst="roundRect">
            <a:avLst>
              <a:gd name="adj" fmla="val 6000"/>
            </a:avLst>
          </a:prstGeom>
          <a:solidFill>
            <a:srgbClr val="24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6A33"/>
                </a:solidFill>
                <a:latin typeface="Cambria"/>
              </a:rPr>
              <a:t>3 · Comprendre la cause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4142231"/>
            <a:ext cx="74980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DATABASE_URL = postgresql:// (sans driver) → psycopg2 par défaut,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absent (on utilise psycopg v3).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93207"/>
            <a:ext cx="10698480" cy="932688"/>
          </a:xfrm>
          <a:prstGeom prst="roundRect">
            <a:avLst>
              <a:gd name="adj" fmla="val 6000"/>
            </a:avLst>
          </a:prstGeom>
          <a:solidFill>
            <a:srgbClr val="24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202936"/>
            <a:ext cx="27432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6A33"/>
                </a:solidFill>
                <a:latin typeface="Cambria"/>
              </a:rPr>
              <a:t>4 · Corriger la classe de bug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39" y="5184647"/>
            <a:ext cx="7498079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Immédiat : +psycopg dans l'URL.</a:t>
            </a:r>
          </a:p>
          <a:p>
            <a:pPr algn="l">
              <a:lnSpc>
                <a:spcPct val="105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Durable : normaliser_url() + 2 tests → le piège ne revient jamais.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26364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CADCFC"/>
                </a:solidFill>
                <a:latin typeface="Calibri"/>
              </a:rPr>
              <a:t>Un code vert en test peut échouer en prod sur une seule différence d'environnement.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1695" cy="256032"/>
          </a:xfrm>
          <a:prstGeom prst="roundRect">
            <a:avLst>
              <a:gd name="adj" fmla="val 6000"/>
            </a:avLst>
          </a:prstGeom>
          <a:solidFill>
            <a:srgbClr val="E8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Cambria"/>
              </a:rPr>
              <a:t>Bilan : du notebook au service en production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3429000" cy="1188720"/>
          </a:xfrm>
          <a:prstGeom prst="roundRect">
            <a:avLst>
              <a:gd name="adj" fmla="val 6000"/>
            </a:avLst>
          </a:prstGeom>
          <a:solidFill>
            <a:srgbClr val="24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938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6A33"/>
                </a:solidFill>
                <a:latin typeface="Cambria"/>
              </a:rPr>
              <a:t>✓ Dépôt Git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5000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structuré · 7 tags · 9 PR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83080"/>
            <a:ext cx="3429000" cy="1188720"/>
          </a:xfrm>
          <a:prstGeom prst="roundRect">
            <a:avLst>
              <a:gd name="adj" fmla="val 6000"/>
            </a:avLst>
          </a:prstGeom>
          <a:solidFill>
            <a:srgbClr val="24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92938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6A33"/>
                </a:solidFill>
                <a:latin typeface="Cambria"/>
              </a:rPr>
              <a:t>✓ API déployée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5000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FastAPI + Swagger, live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83080"/>
            <a:ext cx="3429000" cy="1188720"/>
          </a:xfrm>
          <a:prstGeom prst="roundRect">
            <a:avLst>
              <a:gd name="adj" fmla="val 6000"/>
            </a:avLst>
          </a:prstGeom>
          <a:solidFill>
            <a:srgbClr val="24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92938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6A33"/>
                </a:solidFill>
                <a:latin typeface="Cambria"/>
              </a:rPr>
              <a:t>✓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5000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54 tests · 94,7 % couverture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54680"/>
            <a:ext cx="3429000" cy="1188720"/>
          </a:xfrm>
          <a:prstGeom prst="roundRect">
            <a:avLst>
              <a:gd name="adj" fmla="val 6000"/>
            </a:avLst>
          </a:prstGeom>
          <a:solidFill>
            <a:srgbClr val="24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30098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6A33"/>
                </a:solidFill>
                <a:latin typeface="Cambria"/>
              </a:rPr>
              <a:t>✓ PostgreSQL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72160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traçabilité complète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154680"/>
            <a:ext cx="3429000" cy="1188720"/>
          </a:xfrm>
          <a:prstGeom prst="roundRect">
            <a:avLst>
              <a:gd name="adj" fmla="val 6000"/>
            </a:avLst>
          </a:prstGeom>
          <a:solidFill>
            <a:srgbClr val="24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330098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6A33"/>
                </a:solidFill>
                <a:latin typeface="Cambria"/>
              </a:rPr>
              <a:t>✓ CI/CD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72160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tests + déploiement par tag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154680"/>
            <a:ext cx="3429000" cy="1188720"/>
          </a:xfrm>
          <a:prstGeom prst="roundRect">
            <a:avLst>
              <a:gd name="adj" fmla="val 6000"/>
            </a:avLst>
          </a:prstGeom>
          <a:solidFill>
            <a:srgbClr val="24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3300984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86A33"/>
                </a:solidFill>
                <a:latin typeface="Cambria"/>
              </a:rPr>
              <a:t>✓ Documentation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721608"/>
            <a:ext cx="3108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0">
                <a:solidFill>
                  <a:srgbClr val="FFFFFF"/>
                </a:solidFill>
                <a:latin typeface="Calibri"/>
              </a:rPr>
              <a:t>README · model card · schéma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54880"/>
            <a:ext cx="10698480" cy="18288"/>
          </a:xfrm>
          <a:prstGeom prst="roundRect">
            <a:avLst>
              <a:gd name="adj" fmla="val 6000"/>
            </a:avLst>
          </a:prstGeom>
          <a:solidFill>
            <a:srgbClr val="243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983480"/>
            <a:ext cx="10698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CADCFC"/>
                </a:solidFill>
                <a:latin typeface="Calibri"/>
              </a:rPr>
              <a:t>Perspective : un tableau de bord de suivi de dérive alimenté par la table predictions.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7784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Cambria"/>
              </a:rPr>
              <a:t>Merci — 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